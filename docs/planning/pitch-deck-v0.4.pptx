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fe46cb04304641" /><Relationship Type="http://schemas.openxmlformats.org/officeDocument/2006/relationships/extended-properties" Target="/docProps/app.xml" Id="R33a65cda47444ef3" /><Relationship Type="http://schemas.openxmlformats.org/officeDocument/2006/relationships/officeDocument" Target="/ppt/presentation.xml" Id="R0e4371e6e6be484e" /></Relationships>
</file>

<file path=ppt/presentation.xml><?xml version="1.0" encoding="utf-8"?>
<p:presentation xmlns:p="http://schemas.openxmlformats.org/presentationml/2006/main">
  <p:sldMasterIdLst>
    <p:sldMasterId xmlns:r="http://schemas.openxmlformats.org/officeDocument/2006/relationships" id="2147483648" r:id="Rd0a84356d8ba46fd"/>
  </p:sldMasterIdLst>
  <p:notesMasterIdLst>
    <p:notesMasterId xmlns:r="http://schemas.openxmlformats.org/officeDocument/2006/relationships" r:id="R5cb6afb291b74563"/>
  </p:notesMasterIdLst>
  <p:sldIdLst>
    <p:sldId xmlns:r="http://schemas.openxmlformats.org/officeDocument/2006/relationships" id="256" r:id="Rcf8fc13ab87b4787"/>
    <p:sldId xmlns:r="http://schemas.openxmlformats.org/officeDocument/2006/relationships" id="257" r:id="R2a1c64766c384eb8"/>
    <p:sldId xmlns:r="http://schemas.openxmlformats.org/officeDocument/2006/relationships" id="258" r:id="R0f533b91dc244138"/>
    <p:sldId xmlns:r="http://schemas.openxmlformats.org/officeDocument/2006/relationships" id="259" r:id="R2d66744063b745f1"/>
    <p:sldId xmlns:r="http://schemas.openxmlformats.org/officeDocument/2006/relationships" id="260" r:id="R6ece7841a7f04c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7442d9887b4ac0" /><Relationship Type="http://schemas.openxmlformats.org/officeDocument/2006/relationships/slideMaster" Target="/ppt/slideMasters/slideMaster1.xml" Id="Rd0a84356d8ba46fd" /><Relationship Type="http://schemas.openxmlformats.org/officeDocument/2006/relationships/notesMaster" Target="/ppt/notesMasters/notesMaster1.xml" Id="R5cb6afb291b74563" /><Relationship Type="http://schemas.openxmlformats.org/officeDocument/2006/relationships/presProps" Target="/ppt/presProps.xml" Id="Rff19d578540c4c85" /><Relationship Type="http://schemas.openxmlformats.org/officeDocument/2006/relationships/tableStyles" Target="/ppt/tableStyles.xml" Id="Rdef41c886f51465b" /><Relationship Type="http://schemas.openxmlformats.org/officeDocument/2006/relationships/slide" Target="/ppt/slides/slide1.xml" Id="Rcf8fc13ab87b4787" /><Relationship Type="http://schemas.openxmlformats.org/officeDocument/2006/relationships/slide" Target="/ppt/slides/slide2.xml" Id="R2a1c64766c384eb8" /><Relationship Type="http://schemas.openxmlformats.org/officeDocument/2006/relationships/slide" Target="/ppt/slides/slide3.xml" Id="R0f533b91dc244138" /><Relationship Type="http://schemas.openxmlformats.org/officeDocument/2006/relationships/slide" Target="/ppt/slides/slide4.xml" Id="R2d66744063b745f1" /><Relationship Type="http://schemas.openxmlformats.org/officeDocument/2006/relationships/slide" Target="/ppt/slides/slide5.xml" Id="R6ece7841a7f04c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bc0503b16e4a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31e399f38a499d" /><Relationship Type="http://schemas.openxmlformats.org/officeDocument/2006/relationships/notesMaster" Target="/ppt/notesMasters/notesMaster1.xml" Id="Rd9352ef448044e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98c301c17e476b" /><Relationship Type="http://schemas.openxmlformats.org/officeDocument/2006/relationships/notesMaster" Target="/ppt/notesMasters/notesMaster1.xml" Id="Ra1a5329ef93c45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654815a161411b" /><Relationship Type="http://schemas.openxmlformats.org/officeDocument/2006/relationships/notesMaster" Target="/ppt/notesMasters/notesMaster1.xml" Id="Rcb9a705cb1d84a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83b52412cd4109" /><Relationship Type="http://schemas.openxmlformats.org/officeDocument/2006/relationships/notesMaster" Target="/ppt/notesMasters/notesMaster1.xml" Id="Rd0aeb19c5a154a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3003db0429498d" /><Relationship Type="http://schemas.openxmlformats.org/officeDocument/2006/relationships/notesMaster" Target="/ppt/notesMasters/notesMaster1.xml" Id="Rad6e5184d5fe43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a:t>
            </a:r>
          </a:p>
          <a:p xmlns:a="http://schemas.openxmlformats.org/drawingml/2006/main">
            <a:r>
              <a:t/>
            </a:r>
          </a:p>
          <a:p xmlns:a="http://schemas.openxmlformats.org/drawingml/2006/main">
            <a:r>
              <a:t>An investment firm and its broker can each trust their own records and still disagree about a trade. TradeBridge uses two agents to investigate that disagreement. Our proposed workflow requires authorised people on both sides to verify with World ID and approve the correction before we commit the agreement to Sui.</a:t>
            </a:r>
          </a:p>
          <a:p xmlns:a="http://schemas.openxmlformats.org/drawingml/2006/main">
            <a:r>
              <a:t/>
            </a:r>
          </a:p>
          <a:p xmlns:a="http://schemas.openxmlformats.org/drawingml/2006/main">
            <a:r>
              <a:t>DEMO CUE</a:t>
            </a:r>
          </a:p>
          <a:p xmlns:a="http://schemas.openxmlformats.org/drawingml/2006/main">
            <a:r>
              <a:t>Show the title. Describe this as the proposed workflow unless the submitted build demonstrates all required gates.</a:t>
            </a:r>
          </a:p>
          <a:p xmlns:a="http://schemas.openxmlformats.org/drawingml/2006/main">
            <a:r>
              <a:t/>
            </a:r>
          </a:p>
          <a:p xmlns:a="http://schemas.openxmlformats.org/drawingml/2006/main">
            <a:r>
              <a:t>SOURCES</a:t>
            </a:r>
          </a:p>
          <a:p xmlns:a="http://schemas.openxmlformats.org/drawingml/2006/main">
            <a:r>
              <a:t>TradeBridge Sui PRD v0.4, sections 1 and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0:20–1:00</a:t>
            </a:r>
          </a:p>
          <a:p xmlns:a="http://schemas.openxmlformats.org/drawingml/2006/main">
            <a:r>
              <a:t/>
            </a:r>
          </a:p>
          <a:p xmlns:a="http://schemas.openxmlformats.org/drawingml/2006/main">
            <a:r>
              <a:t>The in-house order says 1,000 demo bond units. The broker confirmation says 1,100. Each agent reads its own party's source and exchanges evidence. The comparator finds the 100-unit difference and blocks settlement. The broker agent proposes 1,000 units at the agreed price of 10 demo cash units. That makes a proposed payment of 10,000, with zero fees or interest in this example. The proposal cannot change the trade yet. A price mismatch triggers the same intervention.</a:t>
            </a:r>
          </a:p>
          <a:p xmlns:a="http://schemas.openxmlformats.org/drawingml/2006/main">
            <a:r>
              <a:t/>
            </a:r>
          </a:p>
          <a:p xmlns:a="http://schemas.openxmlformats.org/drawingml/2006/main">
            <a:r>
              <a:t>DEMO CUE</a:t>
            </a:r>
          </a:p>
          <a:p xmlns:a="http://schemas.openxmlformats.org/drawingml/2006/main">
            <a:r>
              <a:t>Show source rows, the exact mismatch and a rejected settlement attempt. Show no signer invocation. The tokens are team-created DEMOBOND and DEMOUSD with no real-world-value claim.</a:t>
            </a:r>
          </a:p>
          <a:p xmlns:a="http://schemas.openxmlformats.org/drawingml/2006/main">
            <a:r>
              <a:t/>
            </a:r>
          </a:p>
          <a:p xmlns:a="http://schemas.openxmlformats.org/drawingml/2006/main">
            <a:r>
              <a:t>SOURCES</a:t>
            </a:r>
          </a:p>
          <a:p xmlns:a="http://schemas.openxmlformats.org/drawingml/2006/main">
            <a:r>
              <a:t>TradeBridge Sui PRD v0.4, sections 2, 4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1:00–2:10</a:t>
            </a:r>
          </a:p>
          <a:p xmlns:a="http://schemas.openxmlformats.org/drawingml/2006/main">
            <a:r>
              <a:t/>
            </a:r>
          </a:p>
          <a:p xmlns:a="http://schemas.openxmlformats.org/drawingml/2006/main">
            <a:r>
              <a:t>An authorised person from the investment firm and a different authorised person from the broker review the same proposed version. Each completes a fresh World ID face check, then explicitly approves the corrected price, volume and full terms. We verify human participation separately from the firm's permission to approve. One person's approval cannot stand in for the other. If either check fails or either person rejects, the correction stays blocked. Any change to the terms requires fresh verification and approval from both. The agents can prepare the proposal, but they cannot provide human consent.</a:t>
            </a:r>
          </a:p>
          <a:p xmlns:a="http://schemas.openxmlformats.org/drawingml/2006/main">
            <a:r>
              <a:t/>
            </a:r>
          </a:p>
          <a:p xmlns:a="http://schemas.openxmlformats.org/drawingml/2006/main">
            <a:r>
              <a:t>DEMO CUE</a:t>
            </a:r>
          </a:p>
          <a:p xmlns:a="http://schemas.openxmlformats.org/drawingml/2006/main">
            <a:r>
              <a:t>Allow about 25 seconds within this segment for two prepared approvers to demonstrate the checks. Show each side's verification and explicit consent separately against the same v2 hash. If live timing is unreliable, use a clearly labelled recording from the submitted build. Never present a mock as verification. Technical requirement: Proof of Human plus require_user_presence. Face Auth itself is local authentication, not a proof returned to TradeBridge. Verify the supported evidence path before claiming completion. World ID alone does not establish staff authority. No biometric images go into TradeBridge's on-chain agreement.</a:t>
            </a:r>
          </a:p>
          <a:p xmlns:a="http://schemas.openxmlformats.org/drawingml/2006/main">
            <a:r>
              <a:t/>
            </a:r>
          </a:p>
          <a:p xmlns:a="http://schemas.openxmlformats.org/drawingml/2006/main">
            <a:r>
              <a:t>SOURCES</a:t>
            </a:r>
          </a:p>
          <a:p xmlns:a="http://schemas.openxmlformats.org/drawingml/2006/main">
            <a:r>
              <a:t>TradeBridge Sui PRD v0.4, section 4.1. https://docs.world.org/world-id/idkit/credentials ; https://docs.world.org/api-reference/developer-portal/verify ; https://support.world.org/hc/en-us/articles/31589092274195-What-is-Face-Authentication-and-how-does-it-work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2:10–3:20</a:t>
            </a:r>
          </a:p>
          <a:p xmlns:a="http://schemas.openxmlformats.org/drawingml/2006/main">
            <a:r>
              <a:t/>
            </a:r>
          </a:p>
          <a:p xmlns:a="http://schemas.openxmlformats.org/drawingml/2006/main">
            <a:r>
              <a:t>Only after both approvals does the service apply the exact correction and commit an immutable agreement to Sui. We preserve the original records. The agreement fixes what both parties approved. A later amendment needs a new linked version and fresh consent. Once commitment is confirmed, the buyer deposits demo cash and the broker deposits demo bonds separately. The Move escrow checks the agreement and exact funding. One final transaction releases both assets together or releases neither. Our design relies on a verification service for World ID evidence, with Move enforcing its attestations. These are demo tokens. If one party never funds, the other needs the defined expiry and refund path.</a:t>
            </a:r>
          </a:p>
          <a:p xmlns:a="http://schemas.openxmlformats.org/drawingml/2006/main">
            <a:r>
              <a:t/>
            </a:r>
          </a:p>
          <a:p xmlns:a="http://schemas.openxmlformats.org/drawingml/2006/main">
            <a:r>
              <a:t>DEMO CUE</a:t>
            </a:r>
          </a:p>
          <a:p xmlns:a="http://schemas.openxmlformats.org/drawingml/2006/main">
            <a:r>
              <a:t>Show the agreement object and confirmed transaction digest before funding. Then show both funding states and the final transaction's actual token movements. The commitment, separate deposits and final release are distinct steps. Do not claim end-to-end atomicity or native World ID proof verification in Move. Missing on-chain attestation enforcement or a mutable agreement means the PRD's P0 flow is incomplete.</a:t>
            </a:r>
          </a:p>
          <a:p xmlns:a="http://schemas.openxmlformats.org/drawingml/2006/main">
            <a:r>
              <a:t/>
            </a:r>
          </a:p>
          <a:p xmlns:a="http://schemas.openxmlformats.org/drawingml/2006/main">
            <a:r>
              <a:t>SOURCES</a:t>
            </a:r>
          </a:p>
          <a:p xmlns:a="http://schemas.openxmlformats.org/drawingml/2006/main">
            <a:r>
              <a:t>TradeBridge Sui PRD v0.4, sections 2 and 5. https://docs.sui.io/develop/transactions/ptbs/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3:20–4:00</a:t>
            </a:r>
          </a:p>
          <a:p xmlns:a="http://schemas.openxmlformats.org/drawingml/2006/main">
            <a:r>
              <a:t/>
            </a:r>
          </a:p>
          <a:p xmlns:a="http://schemas.openxmlformats.org/drawingml/2006/main">
            <a:r>
              <a:t>We then compare the buyer's record, the broker's record, the approved agreement and the transfers that actually occurred. If a book still shows 1,100, or has no posting, we keep that exception visible with its evidence. A successful transaction does not resolve it automatically. TradeBridge gives post-trade teams a traceable path from disagreement to a human-approved correction and verifiable settlement. The agents speed up investigation. Both firms retain authority over the trade.</a:t>
            </a:r>
          </a:p>
          <a:p xmlns:a="http://schemas.openxmlformats.org/drawingml/2006/main">
            <a:r>
              <a:t/>
            </a:r>
          </a:p>
          <a:p xmlns:a="http://schemas.openxmlformats.org/drawingml/2006/main">
            <a:r>
              <a:t>DEMO CUE</a:t>
            </a:r>
          </a:p>
          <a:p xmlns:a="http://schemas.openxmlformats.org/drawingml/2006/main">
            <a:r>
              <a:t>Show four-way reconciliation and one SETTLED_BOOK_MISSING exception. Explain that book adjustments require their own authorised process. For network timeouts, resolve the existing instruction and digest before retrying. Close on the value for institutional post-trade operations, without invented savings metrics.</a:t>
            </a:r>
          </a:p>
          <a:p xmlns:a="http://schemas.openxmlformats.org/drawingml/2006/main">
            <a:r>
              <a:t/>
            </a:r>
          </a:p>
          <a:p xmlns:a="http://schemas.openxmlformats.org/drawingml/2006/main">
            <a:r>
              <a:t>SOURCES</a:t>
            </a:r>
          </a:p>
          <a:p xmlns:a="http://schemas.openxmlformats.org/drawingml/2006/main">
            <a:r>
              <a:t>TradeBridge Sui PRD v0.4, sections 6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aca542ad484a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61515412964f9c" /><Relationship Type="http://schemas.openxmlformats.org/officeDocument/2006/relationships/slideLayout" Target="/ppt/slideLayouts/slideLayout1.xml" Id="R0296afd92b0944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96afd92b0944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c5513d2a9a4b8e" /><Relationship Type="http://schemas.openxmlformats.org/officeDocument/2006/relationships/notesSlide" Target="/ppt/notesSlides/notesSlide1.xml" Id="R1ec8edc4011244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d47edd150b403e" /><Relationship Type="http://schemas.openxmlformats.org/officeDocument/2006/relationships/notesSlide" Target="/ppt/notesSlides/notesSlide2.xml" Id="Re30c7767c01e46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97e161c93447ca" /><Relationship Type="http://schemas.openxmlformats.org/officeDocument/2006/relationships/notesSlide" Target="/ppt/notesSlides/notesSlide3.xml" Id="R82591bf34b8340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d88d31c96b48e2" /><Relationship Type="http://schemas.openxmlformats.org/officeDocument/2006/relationships/notesSlide" Target="/ppt/notesSlides/notesSlide4.xml" Id="Re09aea1ea9bf41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cb33064f2d4b27" /><Relationship Type="http://schemas.openxmlformats.org/officeDocument/2006/relationships/notesSlide" Target="/ppt/notesSlides/notesSlide5.xml" Id="Rce156a58495d44e9" /></Relationships>
</file>

<file path=ppt/slides/slide1.xml><?xml version="1.0" encoding="utf-8"?>
<p:sld xmlns:p="http://schemas.openxmlformats.org/presentationml/2006/main">
  <p:cSld>
    <p:bg>
      <p:bgPr>
        <a:solidFill xmlns:a="http://schemas.openxmlformats.org/drawingml/2006/main">
          <a:srgbClr val="102A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B32BE2-2675-48D1-9027-3020D28439DD}"/>
              </a:ext>
            </a:extLst>
          </p:cNvPr>
          <p:cNvSpPr>
            <a:spLocks xmlns:a="http://schemas.openxmlformats.org/drawingml/2006/main" noGrp="1"/>
          </p:cNvSpPr>
          <p:nvPr/>
        </p:nvSpPr>
        <p:spPr>
          <a:xfrm xmlns:a="http://schemas.openxmlformats.org/drawingml/2006/main">
            <a:off x="685800" y="15240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FFFFFF"/>
                </a:solidFill>
                <a:latin typeface="Helvetica Neue"/>
                <a:ea typeface="Helvetica Neue"/>
                <a:cs typeface="Helvetica Neue"/>
              </a:defRPr>
            </a:pPr>
            <a:r>
              <a:rPr sz="6600" b="1">
                <a:solidFill>
                  <a:srgbClr val="FFFFFF"/>
                </a:solidFill>
                <a:latin typeface="Helvetica Neue"/>
                <a:ea typeface="Helvetica Neue"/>
                <a:cs typeface="Helvetica Neue"/>
              </a:rPr>
              <a:t>TradeBridge</a:t>
            </a:r>
          </a:p>
        </p:txBody>
      </p:sp>
      <p:sp>
        <p:nvSpPr>
          <p:cNvPr id="2" name="">
            <a:extLst xmlns:a="http://schemas.openxmlformats.org/drawingml/2006/main">
              <a:ext uri="{FF2B5EF4-FFF2-40B4-BE49-F238E27FC236}">
                <a16:creationId xmlns:a16="http://schemas.microsoft.com/office/drawing/2014/main" id="{A3EAE89C-DC19-43F2-9669-E9079D289361}"/>
              </a:ext>
            </a:extLst>
          </p:cNvPr>
          <p:cNvSpPr>
            <a:spLocks xmlns:a="http://schemas.openxmlformats.org/drawingml/2006/main" noGrp="1"/>
          </p:cNvSpPr>
          <p:nvPr/>
        </p:nvSpPr>
        <p:spPr>
          <a:xfrm xmlns:a="http://schemas.openxmlformats.org/drawingml/2006/main">
            <a:off x="742950" y="2867025"/>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BEEBE7"/>
                </a:solidFill>
                <a:latin typeface="Helvetica Neue"/>
                <a:ea typeface="Helvetica Neue"/>
                <a:cs typeface="Helvetica Neue"/>
              </a:defRPr>
            </a:pPr>
            <a:r>
              <a:rPr sz="2850" b="0">
                <a:solidFill>
                  <a:srgbClr val="BEEBE7"/>
                </a:solidFill>
                <a:latin typeface="Helvetica Neue"/>
                <a:ea typeface="Helvetica Neue"/>
                <a:cs typeface="Helvetica Neue"/>
              </a:rPr>
              <a:t>Human approval for trade corrections on Sui</a:t>
            </a:r>
          </a:p>
        </p:txBody>
      </p:sp>
      <p:sp>
        <p:nvSpPr>
          <p:cNvPr id="3" name="">
            <a:extLst xmlns:a="http://schemas.openxmlformats.org/drawingml/2006/main">
              <a:ext uri="{FF2B5EF4-FFF2-40B4-BE49-F238E27FC236}">
                <a16:creationId xmlns:a16="http://schemas.microsoft.com/office/drawing/2014/main" id="{86E4017C-10BC-4800-A4D6-8A2168D248AB}"/>
              </a:ext>
            </a:extLst>
          </p:cNvPr>
          <p:cNvSpPr>
            <a:spLocks xmlns:a="http://schemas.openxmlformats.org/drawingml/2006/main" noGrp="1"/>
          </p:cNvSpPr>
          <p:nvPr/>
        </p:nvSpPr>
        <p:spPr>
          <a:xfrm xmlns:a="http://schemas.openxmlformats.org/drawingml/2006/main">
            <a:off x="742950" y="389572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Two agents investigate. Both parties authorise the correction.</a:t>
            </a:r>
          </a:p>
        </p:txBody>
      </p:sp>
      <p:sp>
        <p:nvSpPr>
          <p:cNvPr id="4" name="">
            <a:extLst xmlns:a="http://schemas.openxmlformats.org/drawingml/2006/main">
              <a:ext uri="{FF2B5EF4-FFF2-40B4-BE49-F238E27FC236}">
                <a16:creationId xmlns:a16="http://schemas.microsoft.com/office/drawing/2014/main" id="{61F76EFC-7DC6-43C3-A81F-A4768BA767B1}"/>
              </a:ext>
            </a:extLst>
          </p:cNvPr>
          <p:cNvSpPr>
            <a:spLocks xmlns:a="http://schemas.openxmlformats.org/drawingml/2006/main" noGrp="1"/>
          </p:cNvSpPr>
          <p:nvPr/>
        </p:nvSpPr>
        <p:spPr>
          <a:xfrm xmlns:a="http://schemas.openxmlformats.org/drawingml/2006/main">
            <a:off x="742950" y="60960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4C6CE"/>
                </a:solidFill>
                <a:latin typeface="Helvetica Neue"/>
                <a:ea typeface="Helvetica Neue"/>
                <a:cs typeface="Helvetica Neue"/>
              </a:defRPr>
            </a:pPr>
            <a:r>
              <a:rPr sz="1500" b="0">
                <a:solidFill>
                  <a:srgbClr val="B4C6CE"/>
                </a:solidFill>
                <a:latin typeface="Helvetica Neue"/>
                <a:ea typeface="Helvetica Neue"/>
                <a:cs typeface="Helvetica Neue"/>
              </a:rPr>
              <a:t>Proposed demo   /   PRD v0.4   /   26 September 2026</a:t>
            </a:r>
          </a:p>
        </p:txBody>
      </p:sp>
    </p:spTree>
    <p:extLst>
      <p:ext uri="{BB962C8B-B14F-4D97-AF65-F5344CB8AC3E}">
        <p14:creationId xmlns:p14="http://schemas.microsoft.com/office/powerpoint/2010/main" val="1355990129"/>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E40201-3895-43BE-9D38-CCADA23B0954}"/>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A3B"/>
                </a:solidFill>
                <a:latin typeface="Helvetica Neue"/>
                <a:ea typeface="Helvetica Neue"/>
                <a:cs typeface="Helvetica Neue"/>
              </a:defRPr>
            </a:pPr>
            <a:r>
              <a:rPr sz="3300" b="1">
                <a:solidFill>
                  <a:srgbClr val="102A3B"/>
                </a:solidFill>
                <a:latin typeface="Helvetica Neue"/>
                <a:ea typeface="Helvetica Neue"/>
                <a:cs typeface="Helvetica Neue"/>
              </a:rPr>
              <a:t>A 100-unit disagreement</a:t>
            </a:r>
          </a:p>
        </p:txBody>
      </p:sp>
      <p:sp>
        <p:nvSpPr>
          <p:cNvPr id="2" name="">
            <a:extLst xmlns:a="http://schemas.openxmlformats.org/drawingml/2006/main">
              <a:ext uri="{FF2B5EF4-FFF2-40B4-BE49-F238E27FC236}">
                <a16:creationId xmlns:a16="http://schemas.microsoft.com/office/drawing/2014/main" id="{9A86AB02-6FBF-4C0D-98BA-4669B0D12ABA}"/>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7"/>
                </a:solidFill>
                <a:latin typeface="Helvetica Neue"/>
                <a:ea typeface="Helvetica Neue"/>
                <a:cs typeface="Helvetica Neue"/>
              </a:defRPr>
            </a:pPr>
            <a:r>
              <a:rPr sz="1350" b="0">
                <a:solidFill>
                  <a:srgbClr val="526977"/>
                </a:solidFill>
                <a:latin typeface="Helvetica Neue"/>
                <a:ea typeface="Helvetica Neue"/>
                <a:cs typeface="Helvetica Neue"/>
              </a:rPr>
              <a:t>TradeBridge   /   Proposed workflow   /   2</a:t>
            </a:r>
          </a:p>
        </p:txBody>
      </p:sp>
      <p:sp>
        <p:nvSpPr>
          <p:cNvPr id="3" name="">
            <a:extLst xmlns:a="http://schemas.openxmlformats.org/drawingml/2006/main">
              <a:ext uri="{FF2B5EF4-FFF2-40B4-BE49-F238E27FC236}">
                <a16:creationId xmlns:a16="http://schemas.microsoft.com/office/drawing/2014/main" id="{DD041D95-46EE-428E-B137-19864EBE453E}"/>
              </a:ext>
            </a:extLst>
          </p:cNvPr>
          <p:cNvSpPr>
            <a:spLocks xmlns:a="http://schemas.openxmlformats.org/drawingml/2006/main" noGrp="1"/>
          </p:cNvSpPr>
          <p:nvPr/>
        </p:nvSpPr>
        <p:spPr>
          <a:xfrm xmlns:a="http://schemas.openxmlformats.org/drawingml/2006/main">
            <a:off x="666750" y="17335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26977"/>
                </a:solidFill>
                <a:latin typeface="Helvetica Neue"/>
                <a:ea typeface="Helvetica Neue"/>
                <a:cs typeface="Helvetica Neue"/>
              </a:defRPr>
            </a:pPr>
            <a:r>
              <a:rPr sz="1800" b="1">
                <a:solidFill>
                  <a:srgbClr val="526977"/>
                </a:solidFill>
                <a:latin typeface="Helvetica Neue"/>
                <a:ea typeface="Helvetica Neue"/>
                <a:cs typeface="Helvetica Neue"/>
              </a:rPr>
              <a:t>IN-HOUSE ORDER</a:t>
            </a:r>
          </a:p>
        </p:txBody>
      </p:sp>
      <p:sp>
        <p:nvSpPr>
          <p:cNvPr id="4" name="">
            <a:extLst xmlns:a="http://schemas.openxmlformats.org/drawingml/2006/main">
              <a:ext uri="{FF2B5EF4-FFF2-40B4-BE49-F238E27FC236}">
                <a16:creationId xmlns:a16="http://schemas.microsoft.com/office/drawing/2014/main" id="{DFF04E20-9F99-440A-8E8D-14DEB6762B07}"/>
              </a:ext>
            </a:extLst>
          </p:cNvPr>
          <p:cNvSpPr>
            <a:spLocks xmlns:a="http://schemas.openxmlformats.org/drawingml/2006/main" noGrp="1"/>
          </p:cNvSpPr>
          <p:nvPr/>
        </p:nvSpPr>
        <p:spPr>
          <a:xfrm xmlns:a="http://schemas.openxmlformats.org/drawingml/2006/main">
            <a:off x="6667500" y="17335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526977"/>
                </a:solidFill>
                <a:latin typeface="Helvetica Neue"/>
                <a:ea typeface="Helvetica Neue"/>
                <a:cs typeface="Helvetica Neue"/>
              </a:defRPr>
            </a:pPr>
            <a:r>
              <a:rPr sz="1800" b="1">
                <a:solidFill>
                  <a:srgbClr val="526977"/>
                </a:solidFill>
                <a:latin typeface="Helvetica Neue"/>
                <a:ea typeface="Helvetica Neue"/>
                <a:cs typeface="Helvetica Neue"/>
              </a:rPr>
              <a:t>BROKER CONFIRMATION</a:t>
            </a:r>
          </a:p>
        </p:txBody>
      </p:sp>
      <p:sp>
        <p:nvSpPr>
          <p:cNvPr id="5" name="">
            <a:extLst xmlns:a="http://schemas.openxmlformats.org/drawingml/2006/main">
              <a:ext uri="{FF2B5EF4-FFF2-40B4-BE49-F238E27FC236}">
                <a16:creationId xmlns:a16="http://schemas.microsoft.com/office/drawing/2014/main" id="{5AC689D0-4398-4F98-B182-5C48F77B52C5}"/>
              </a:ext>
            </a:extLst>
          </p:cNvPr>
          <p:cNvSpPr>
            <a:spLocks xmlns:a="http://schemas.openxmlformats.org/drawingml/2006/main" noGrp="1"/>
          </p:cNvSpPr>
          <p:nvPr/>
        </p:nvSpPr>
        <p:spPr>
          <a:xfrm xmlns:a="http://schemas.openxmlformats.org/drawingml/2006/main">
            <a:off x="609600" y="228600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087E82"/>
                </a:solidFill>
                <a:latin typeface="Helvetica Neue"/>
                <a:ea typeface="Helvetica Neue"/>
                <a:cs typeface="Helvetica Neue"/>
              </a:defRPr>
            </a:pPr>
            <a:r>
              <a:rPr sz="7500" b="1">
                <a:solidFill>
                  <a:srgbClr val="087E82"/>
                </a:solidFill>
                <a:latin typeface="Helvetica Neue"/>
                <a:ea typeface="Helvetica Neue"/>
                <a:cs typeface="Helvetica Neue"/>
              </a:rPr>
              <a:t>1,000</a:t>
            </a:r>
          </a:p>
        </p:txBody>
      </p:sp>
      <p:sp>
        <p:nvSpPr>
          <p:cNvPr id="6" name="">
            <a:extLst xmlns:a="http://schemas.openxmlformats.org/drawingml/2006/main">
              <a:ext uri="{FF2B5EF4-FFF2-40B4-BE49-F238E27FC236}">
                <a16:creationId xmlns:a16="http://schemas.microsoft.com/office/drawing/2014/main" id="{86341D4F-FF6A-4C9E-A109-5CB840948369}"/>
              </a:ext>
            </a:extLst>
          </p:cNvPr>
          <p:cNvSpPr>
            <a:spLocks xmlns:a="http://schemas.openxmlformats.org/drawingml/2006/main" noGrp="1"/>
          </p:cNvSpPr>
          <p:nvPr/>
        </p:nvSpPr>
        <p:spPr>
          <a:xfrm xmlns:a="http://schemas.openxmlformats.org/drawingml/2006/main">
            <a:off x="5467350" y="2381250"/>
            <a:ext cx="104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0">
                <a:solidFill>
                  <a:srgbClr val="B13B36"/>
                </a:solidFill>
                <a:latin typeface="Helvetica Neue"/>
                <a:ea typeface="Helvetica Neue"/>
                <a:cs typeface="Helvetica Neue"/>
              </a:defRPr>
            </a:pPr>
            <a:r>
              <a:rPr sz="5700" b="0">
                <a:solidFill>
                  <a:srgbClr val="B13B36"/>
                </a:solidFill>
                <a:latin typeface="Helvetica Neue"/>
                <a:ea typeface="Helvetica Neue"/>
                <a:cs typeface="Helvetica Neue"/>
              </a:rPr>
              <a:t>≠</a:t>
            </a:r>
          </a:p>
        </p:txBody>
      </p:sp>
      <p:sp>
        <p:nvSpPr>
          <p:cNvPr id="7" name="">
            <a:extLst xmlns:a="http://schemas.openxmlformats.org/drawingml/2006/main">
              <a:ext uri="{FF2B5EF4-FFF2-40B4-BE49-F238E27FC236}">
                <a16:creationId xmlns:a16="http://schemas.microsoft.com/office/drawing/2014/main" id="{3458CE93-F108-4BD3-BD2F-1A87073CC423}"/>
              </a:ext>
            </a:extLst>
          </p:cNvPr>
          <p:cNvSpPr>
            <a:spLocks xmlns:a="http://schemas.openxmlformats.org/drawingml/2006/main" noGrp="1"/>
          </p:cNvSpPr>
          <p:nvPr/>
        </p:nvSpPr>
        <p:spPr>
          <a:xfrm xmlns:a="http://schemas.openxmlformats.org/drawingml/2006/main">
            <a:off x="6610350" y="22860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B13B36"/>
                </a:solidFill>
                <a:latin typeface="Helvetica Neue"/>
                <a:ea typeface="Helvetica Neue"/>
                <a:cs typeface="Helvetica Neue"/>
              </a:defRPr>
            </a:pPr>
            <a:r>
              <a:rPr sz="7500" b="1">
                <a:solidFill>
                  <a:srgbClr val="B13B36"/>
                </a:solidFill>
                <a:latin typeface="Helvetica Neue"/>
                <a:ea typeface="Helvetica Neue"/>
                <a:cs typeface="Helvetica Neue"/>
              </a:rPr>
              <a:t>1,100</a:t>
            </a:r>
          </a:p>
        </p:txBody>
      </p:sp>
      <p:sp>
        <p:nvSpPr>
          <p:cNvPr id="8" name="">
            <a:extLst xmlns:a="http://schemas.openxmlformats.org/drawingml/2006/main">
              <a:ext uri="{FF2B5EF4-FFF2-40B4-BE49-F238E27FC236}">
                <a16:creationId xmlns:a16="http://schemas.microsoft.com/office/drawing/2014/main" id="{2DE82F74-5A9E-44F0-B8AC-6B2C42F884ED}"/>
              </a:ext>
            </a:extLst>
          </p:cNvPr>
          <p:cNvSpPr>
            <a:spLocks xmlns:a="http://schemas.openxmlformats.org/drawingml/2006/main" noGrp="1"/>
          </p:cNvSpPr>
          <p:nvPr/>
        </p:nvSpPr>
        <p:spPr>
          <a:xfrm xmlns:a="http://schemas.openxmlformats.org/drawingml/2006/main">
            <a:off x="666750" y="35242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977"/>
                </a:solidFill>
                <a:latin typeface="Helvetica Neue"/>
                <a:ea typeface="Helvetica Neue"/>
                <a:cs typeface="Helvetica Neue"/>
              </a:defRPr>
            </a:pPr>
            <a:r>
              <a:rPr sz="1650" b="0">
                <a:solidFill>
                  <a:srgbClr val="526977"/>
                </a:solidFill>
                <a:latin typeface="Helvetica Neue"/>
                <a:ea typeface="Helvetica Neue"/>
                <a:cs typeface="Helvetica Neue"/>
              </a:rPr>
              <a:t>DEMO BOND UNITS</a:t>
            </a:r>
          </a:p>
        </p:txBody>
      </p:sp>
      <p:sp>
        <p:nvSpPr>
          <p:cNvPr id="9" name="">
            <a:extLst xmlns:a="http://schemas.openxmlformats.org/drawingml/2006/main">
              <a:ext uri="{FF2B5EF4-FFF2-40B4-BE49-F238E27FC236}">
                <a16:creationId xmlns:a16="http://schemas.microsoft.com/office/drawing/2014/main" id="{8EFE6670-8991-498C-820A-916021A5741C}"/>
              </a:ext>
            </a:extLst>
          </p:cNvPr>
          <p:cNvSpPr>
            <a:spLocks xmlns:a="http://schemas.openxmlformats.org/drawingml/2006/main" noGrp="1"/>
          </p:cNvSpPr>
          <p:nvPr/>
        </p:nvSpPr>
        <p:spPr>
          <a:xfrm xmlns:a="http://schemas.openxmlformats.org/drawingml/2006/main">
            <a:off x="6667500" y="3524250"/>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977"/>
                </a:solidFill>
                <a:latin typeface="Helvetica Neue"/>
                <a:ea typeface="Helvetica Neue"/>
                <a:cs typeface="Helvetica Neue"/>
              </a:defRPr>
            </a:pPr>
            <a:r>
              <a:rPr sz="1650" b="0">
                <a:solidFill>
                  <a:srgbClr val="526977"/>
                </a:solidFill>
                <a:latin typeface="Helvetica Neue"/>
                <a:ea typeface="Helvetica Neue"/>
                <a:cs typeface="Helvetica Neue"/>
              </a:rPr>
              <a:t>DEMO BOND UNITS</a:t>
            </a:r>
          </a:p>
        </p:txBody>
      </p:sp>
      <p:sp>
        <p:nvSpPr>
          <p:cNvPr id="10" name="">
            <a:extLst xmlns:a="http://schemas.openxmlformats.org/drawingml/2006/main">
              <a:ext uri="{FF2B5EF4-FFF2-40B4-BE49-F238E27FC236}">
                <a16:creationId xmlns:a16="http://schemas.microsoft.com/office/drawing/2014/main" id="{9ED45D68-BC5E-40A5-AF6E-EBFFB63A1ECB}"/>
              </a:ext>
            </a:extLst>
          </p:cNvPr>
          <p:cNvSpPr>
            <a:spLocks xmlns:a="http://schemas.openxmlformats.org/drawingml/2006/main" noGrp="1"/>
          </p:cNvSpPr>
          <p:nvPr/>
        </p:nvSpPr>
        <p:spPr>
          <a:xfrm xmlns:a="http://schemas.openxmlformats.org/drawingml/2006/main">
            <a:off x="666750" y="44196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A3B"/>
                </a:solidFill>
                <a:latin typeface="Helvetica Neue"/>
                <a:ea typeface="Helvetica Neue"/>
                <a:cs typeface="Helvetica Neue"/>
              </a:defRPr>
            </a:pPr>
            <a:r>
              <a:rPr sz="2400" b="1">
                <a:solidFill>
                  <a:srgbClr val="102A3B"/>
                </a:solidFill>
                <a:latin typeface="Helvetica Neue"/>
                <a:ea typeface="Helvetica Neue"/>
                <a:cs typeface="Helvetica Neue"/>
              </a:rPr>
              <a:t>Agents compare source evidence. Policy blocks settlement.</a:t>
            </a:r>
          </a:p>
        </p:txBody>
      </p:sp>
      <p:sp>
        <p:nvSpPr>
          <p:cNvPr id="11" name="">
            <a:extLst xmlns:a="http://schemas.openxmlformats.org/drawingml/2006/main">
              <a:ext uri="{FF2B5EF4-FFF2-40B4-BE49-F238E27FC236}">
                <a16:creationId xmlns:a16="http://schemas.microsoft.com/office/drawing/2014/main" id="{2562BE3E-F43E-4E7F-A396-7FB0E8F741F0}"/>
              </a:ext>
            </a:extLst>
          </p:cNvPr>
          <p:cNvSpPr>
            <a:spLocks xmlns:a="http://schemas.openxmlformats.org/drawingml/2006/main" noGrp="1"/>
          </p:cNvSpPr>
          <p:nvPr/>
        </p:nvSpPr>
        <p:spPr>
          <a:xfrm xmlns:a="http://schemas.openxmlformats.org/drawingml/2006/main">
            <a:off x="666750" y="51911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977"/>
                </a:solidFill>
                <a:latin typeface="Helvetica Neue"/>
                <a:ea typeface="Helvetica Neue"/>
                <a:cs typeface="Helvetica Neue"/>
              </a:defRPr>
            </a:pPr>
            <a:r>
              <a:rPr sz="2025" b="0">
                <a:solidFill>
                  <a:srgbClr val="526977"/>
                </a:solidFill>
                <a:latin typeface="Helvetica Neue"/>
                <a:ea typeface="Helvetica Neue"/>
                <a:cs typeface="Helvetica Neue"/>
              </a:rPr>
              <a:t>Proposed correction: 1,000 units at 10 DEMOUSD = 10,000 DEMOUSD</a:t>
            </a:r>
          </a:p>
        </p:txBody>
      </p:sp>
    </p:spTree>
    <p:extLst>
      <p:ext uri="{BB962C8B-B14F-4D97-AF65-F5344CB8AC3E}">
        <p14:creationId xmlns:p14="http://schemas.microsoft.com/office/powerpoint/2010/main" val="950495637"/>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3A5F4C-BEC7-4EE7-8DB4-07C731F0C4D5}"/>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A3B"/>
                </a:solidFill>
                <a:latin typeface="Helvetica Neue"/>
                <a:ea typeface="Helvetica Neue"/>
                <a:cs typeface="Helvetica Neue"/>
              </a:defRPr>
            </a:pPr>
            <a:r>
              <a:rPr sz="3300" b="1">
                <a:solidFill>
                  <a:srgbClr val="102A3B"/>
                </a:solidFill>
                <a:latin typeface="Helvetica Neue"/>
                <a:ea typeface="Helvetica Neue"/>
                <a:cs typeface="Helvetica Neue"/>
              </a:rPr>
              <a:t>World ID verification on both sides</a:t>
            </a:r>
          </a:p>
        </p:txBody>
      </p:sp>
      <p:sp>
        <p:nvSpPr>
          <p:cNvPr id="2" name="">
            <a:extLst xmlns:a="http://schemas.openxmlformats.org/drawingml/2006/main">
              <a:ext uri="{FF2B5EF4-FFF2-40B4-BE49-F238E27FC236}">
                <a16:creationId xmlns:a16="http://schemas.microsoft.com/office/drawing/2014/main" id="{F724B7A5-A9B9-4851-8C92-5A9370D8FA15}"/>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7"/>
                </a:solidFill>
                <a:latin typeface="Helvetica Neue"/>
                <a:ea typeface="Helvetica Neue"/>
                <a:cs typeface="Helvetica Neue"/>
              </a:defRPr>
            </a:pPr>
            <a:r>
              <a:rPr sz="1350" b="0">
                <a:solidFill>
                  <a:srgbClr val="526977"/>
                </a:solidFill>
                <a:latin typeface="Helvetica Neue"/>
                <a:ea typeface="Helvetica Neue"/>
                <a:cs typeface="Helvetica Neue"/>
              </a:rPr>
              <a:t>TradeBridge   /   Proposed workflow   /   3</a:t>
            </a:r>
          </a:p>
        </p:txBody>
      </p:sp>
      <p:sp>
        <p:nvSpPr>
          <p:cNvPr id="3" name="">
            <a:extLst xmlns:a="http://schemas.openxmlformats.org/drawingml/2006/main">
              <a:ext uri="{FF2B5EF4-FFF2-40B4-BE49-F238E27FC236}">
                <a16:creationId xmlns:a16="http://schemas.microsoft.com/office/drawing/2014/main" id="{DD99C926-CAE1-4035-92B0-025CE46BE5FD}"/>
              </a:ext>
            </a:extLst>
          </p:cNvPr>
          <p:cNvSpPr>
            <a:spLocks xmlns:a="http://schemas.openxmlformats.org/drawingml/2006/main" noGrp="1"/>
          </p:cNvSpPr>
          <p:nvPr/>
        </p:nvSpPr>
        <p:spPr>
          <a:xfrm xmlns:a="http://schemas.openxmlformats.org/drawingml/2006/main">
            <a:off x="666750" y="16954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2"/>
                </a:solidFill>
                <a:latin typeface="Helvetica Neue"/>
                <a:ea typeface="Helvetica Neue"/>
                <a:cs typeface="Helvetica Neue"/>
              </a:defRPr>
            </a:pPr>
            <a:r>
              <a:rPr sz="1875" b="1">
                <a:solidFill>
                  <a:srgbClr val="087E82"/>
                </a:solidFill>
                <a:latin typeface="Helvetica Neue"/>
                <a:ea typeface="Helvetica Neue"/>
                <a:cs typeface="Helvetica Neue"/>
              </a:rPr>
              <a:t>BUYER / IN-HOUSE</a:t>
            </a:r>
          </a:p>
        </p:txBody>
      </p:sp>
      <p:sp>
        <p:nvSpPr>
          <p:cNvPr id="4" name="">
            <a:extLst xmlns:a="http://schemas.openxmlformats.org/drawingml/2006/main">
              <a:ext uri="{FF2B5EF4-FFF2-40B4-BE49-F238E27FC236}">
                <a16:creationId xmlns:a16="http://schemas.microsoft.com/office/drawing/2014/main" id="{415850B0-DF35-4AFA-83E1-8AE10B9DC074}"/>
              </a:ext>
            </a:extLst>
          </p:cNvPr>
          <p:cNvSpPr>
            <a:spLocks xmlns:a="http://schemas.openxmlformats.org/drawingml/2006/main" noGrp="1"/>
          </p:cNvSpPr>
          <p:nvPr/>
        </p:nvSpPr>
        <p:spPr>
          <a:xfrm xmlns:a="http://schemas.openxmlformats.org/drawingml/2006/main">
            <a:off x="6667500" y="16954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E82"/>
                </a:solidFill>
                <a:latin typeface="Helvetica Neue"/>
                <a:ea typeface="Helvetica Neue"/>
                <a:cs typeface="Helvetica Neue"/>
              </a:defRPr>
            </a:pPr>
            <a:r>
              <a:rPr sz="1875" b="1">
                <a:solidFill>
                  <a:srgbClr val="087E82"/>
                </a:solidFill>
                <a:latin typeface="Helvetica Neue"/>
                <a:ea typeface="Helvetica Neue"/>
                <a:cs typeface="Helvetica Neue"/>
              </a:rPr>
              <a:t>BROKER</a:t>
            </a:r>
          </a:p>
        </p:txBody>
      </p:sp>
      <p:sp>
        <p:nvSpPr>
          <p:cNvPr id="5" name="">
            <a:extLst xmlns:a="http://schemas.openxmlformats.org/drawingml/2006/main">
              <a:ext uri="{FF2B5EF4-FFF2-40B4-BE49-F238E27FC236}">
                <a16:creationId xmlns:a16="http://schemas.microsoft.com/office/drawing/2014/main" id="{E90FA53A-B5E9-4B74-B4E2-35B259ECC326}"/>
              </a:ext>
            </a:extLst>
          </p:cNvPr>
          <p:cNvSpPr>
            <a:spLocks xmlns:a="http://schemas.openxmlformats.org/drawingml/2006/main" noGrp="1"/>
          </p:cNvSpPr>
          <p:nvPr/>
        </p:nvSpPr>
        <p:spPr>
          <a:xfrm xmlns:a="http://schemas.openxmlformats.org/drawingml/2006/main">
            <a:off x="666750" y="23241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2A3B"/>
                </a:solidFill>
                <a:latin typeface="Helvetica Neue"/>
                <a:ea typeface="Helvetica Neue"/>
                <a:cs typeface="Helvetica Neue"/>
              </a:defRPr>
            </a:pPr>
            <a:r>
              <a:rPr sz="2325" b="0">
                <a:solidFill>
                  <a:srgbClr val="102A3B"/>
                </a:solidFill>
                <a:latin typeface="Helvetica Neue"/>
                <a:ea typeface="Helvetica Neue"/>
                <a:cs typeface="Helvetica Neue"/>
              </a:rPr>
              <a:t>Authorised staff member</a:t>
            </a:r>
          </a:p>
          <a:p xmlns:a="http://schemas.openxmlformats.org/drawingml/2006/main">
            <a:pPr>
              <a:defRPr sz="2325" b="0">
                <a:solidFill>
                  <a:srgbClr val="102A3B"/>
                </a:solidFill>
                <a:latin typeface="Helvetica Neue"/>
                <a:ea typeface="Helvetica Neue"/>
                <a:cs typeface="Helvetica Neue"/>
              </a:defRPr>
            </a:pPr>
            <a:r>
              <a:rPr sz="2325" b="0">
                <a:solidFill>
                  <a:srgbClr val="102A3B"/>
                </a:solidFill>
                <a:latin typeface="Helvetica Neue"/>
                <a:ea typeface="Helvetica Neue"/>
                <a:cs typeface="Helvetica Neue"/>
              </a:rPr>
              <a:t>Fresh World ID face check</a:t>
            </a:r>
          </a:p>
          <a:p xmlns:a="http://schemas.openxmlformats.org/drawingml/2006/main">
            <a:pPr>
              <a:defRPr sz="2325" b="0">
                <a:solidFill>
                  <a:srgbClr val="102A3B"/>
                </a:solidFill>
                <a:latin typeface="Helvetica Neue"/>
                <a:ea typeface="Helvetica Neue"/>
                <a:cs typeface="Helvetica Neue"/>
              </a:defRPr>
            </a:pPr>
            <a:r>
              <a:rPr sz="2325" b="0">
                <a:solidFill>
                  <a:srgbClr val="102A3B"/>
                </a:solidFill>
                <a:latin typeface="Helvetica Neue"/>
                <a:ea typeface="Helvetica Neue"/>
                <a:cs typeface="Helvetica Neue"/>
              </a:rPr>
              <a:t>Explicit approval of v2</a:t>
            </a:r>
          </a:p>
        </p:txBody>
      </p:sp>
      <p:sp>
        <p:nvSpPr>
          <p:cNvPr id="6" name="">
            <a:extLst xmlns:a="http://schemas.openxmlformats.org/drawingml/2006/main">
              <a:ext uri="{FF2B5EF4-FFF2-40B4-BE49-F238E27FC236}">
                <a16:creationId xmlns:a16="http://schemas.microsoft.com/office/drawing/2014/main" id="{DD401400-4B79-4BA0-8B92-391BCEABEFA9}"/>
              </a:ext>
            </a:extLst>
          </p:cNvPr>
          <p:cNvSpPr>
            <a:spLocks xmlns:a="http://schemas.openxmlformats.org/drawingml/2006/main" noGrp="1"/>
          </p:cNvSpPr>
          <p:nvPr/>
        </p:nvSpPr>
        <p:spPr>
          <a:xfrm xmlns:a="http://schemas.openxmlformats.org/drawingml/2006/main">
            <a:off x="6667500" y="2324100"/>
            <a:ext cx="4857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2A3B"/>
                </a:solidFill>
                <a:latin typeface="Helvetica Neue"/>
                <a:ea typeface="Helvetica Neue"/>
                <a:cs typeface="Helvetica Neue"/>
              </a:defRPr>
            </a:pPr>
            <a:r>
              <a:rPr sz="2325" b="0">
                <a:solidFill>
                  <a:srgbClr val="102A3B"/>
                </a:solidFill>
                <a:latin typeface="Helvetica Neue"/>
                <a:ea typeface="Helvetica Neue"/>
                <a:cs typeface="Helvetica Neue"/>
              </a:rPr>
              <a:t>Different authorised person</a:t>
            </a:r>
          </a:p>
          <a:p xmlns:a="http://schemas.openxmlformats.org/drawingml/2006/main">
            <a:pPr>
              <a:defRPr sz="2325" b="0">
                <a:solidFill>
                  <a:srgbClr val="102A3B"/>
                </a:solidFill>
                <a:latin typeface="Helvetica Neue"/>
                <a:ea typeface="Helvetica Neue"/>
                <a:cs typeface="Helvetica Neue"/>
              </a:defRPr>
            </a:pPr>
            <a:r>
              <a:rPr sz="2325" b="0">
                <a:solidFill>
                  <a:srgbClr val="102A3B"/>
                </a:solidFill>
                <a:latin typeface="Helvetica Neue"/>
                <a:ea typeface="Helvetica Neue"/>
                <a:cs typeface="Helvetica Neue"/>
              </a:rPr>
              <a:t>Fresh World ID face check</a:t>
            </a:r>
          </a:p>
          <a:p xmlns:a="http://schemas.openxmlformats.org/drawingml/2006/main">
            <a:pPr>
              <a:defRPr sz="2325" b="0">
                <a:solidFill>
                  <a:srgbClr val="102A3B"/>
                </a:solidFill>
                <a:latin typeface="Helvetica Neue"/>
                <a:ea typeface="Helvetica Neue"/>
                <a:cs typeface="Helvetica Neue"/>
              </a:defRPr>
            </a:pPr>
            <a:r>
              <a:rPr sz="2325" b="0">
                <a:solidFill>
                  <a:srgbClr val="102A3B"/>
                </a:solidFill>
                <a:latin typeface="Helvetica Neue"/>
                <a:ea typeface="Helvetica Neue"/>
                <a:cs typeface="Helvetica Neue"/>
              </a:rPr>
              <a:t>Explicit approval of v2</a:t>
            </a:r>
          </a:p>
        </p:txBody>
      </p:sp>
      <p:sp>
        <p:nvSpPr>
          <p:cNvPr id="7" name="">
            <a:extLst xmlns:a="http://schemas.openxmlformats.org/drawingml/2006/main">
              <a:ext uri="{FF2B5EF4-FFF2-40B4-BE49-F238E27FC236}">
                <a16:creationId xmlns:a16="http://schemas.microsoft.com/office/drawing/2014/main" id="{41647A52-03FD-4553-8081-CBE4F2F6BD86}"/>
              </a:ext>
            </a:extLst>
          </p:cNvPr>
          <p:cNvSpPr>
            <a:spLocks xmlns:a="http://schemas.openxmlformats.org/drawingml/2006/main" noGrp="1"/>
          </p:cNvSpPr>
          <p:nvPr/>
        </p:nvSpPr>
        <p:spPr>
          <a:xfrm xmlns:a="http://schemas.openxmlformats.org/drawingml/2006/main">
            <a:off x="666750" y="43529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02A3B"/>
                </a:solidFill>
                <a:latin typeface="Helvetica Neue"/>
                <a:ea typeface="Helvetica Neue"/>
                <a:cs typeface="Helvetica Neue"/>
              </a:defRPr>
            </a:pPr>
            <a:r>
              <a:rPr sz="2550" b="1">
                <a:solidFill>
                  <a:srgbClr val="102A3B"/>
                </a:solidFill>
                <a:latin typeface="Helvetica Neue"/>
                <a:ea typeface="Helvetica Neue"/>
                <a:cs typeface="Helvetica Neue"/>
              </a:rPr>
              <a:t>Same price. Same volume. Same full terms and hash.</a:t>
            </a:r>
          </a:p>
        </p:txBody>
      </p:sp>
      <p:sp>
        <p:nvSpPr>
          <p:cNvPr id="8" name="">
            <a:extLst xmlns:a="http://schemas.openxmlformats.org/drawingml/2006/main">
              <a:ext uri="{FF2B5EF4-FFF2-40B4-BE49-F238E27FC236}">
                <a16:creationId xmlns:a16="http://schemas.microsoft.com/office/drawing/2014/main" id="{6B79A513-29D5-45DE-9376-31E8BEC67380}"/>
              </a:ext>
            </a:extLst>
          </p:cNvPr>
          <p:cNvSpPr>
            <a:spLocks xmlns:a="http://schemas.openxmlformats.org/drawingml/2006/main" noGrp="1"/>
          </p:cNvSpPr>
          <p:nvPr/>
        </p:nvSpPr>
        <p:spPr>
          <a:xfrm xmlns:a="http://schemas.openxmlformats.org/drawingml/2006/main">
            <a:off x="666750" y="5286375"/>
            <a:ext cx="10858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977"/>
                </a:solidFill>
                <a:latin typeface="Helvetica Neue"/>
                <a:ea typeface="Helvetica Neue"/>
                <a:cs typeface="Helvetica Neue"/>
              </a:defRPr>
            </a:pPr>
            <a:r>
              <a:rPr sz="1950" b="0">
                <a:solidFill>
                  <a:srgbClr val="526977"/>
                </a:solidFill>
                <a:latin typeface="Helvetica Neue"/>
                <a:ea typeface="Helvetica Neue"/>
                <a:cs typeface="Helvetica Neue"/>
              </a:rPr>
              <a:t>Either side missing or rejected: no correction</a:t>
            </a:r>
          </a:p>
          <a:p xmlns:a="http://schemas.openxmlformats.org/drawingml/2006/main">
            <a:pPr>
              <a:defRPr sz="1950" b="0">
                <a:solidFill>
                  <a:srgbClr val="526977"/>
                </a:solidFill>
                <a:latin typeface="Helvetica Neue"/>
                <a:ea typeface="Helvetica Neue"/>
                <a:cs typeface="Helvetica Neue"/>
              </a:defRPr>
            </a:pPr>
            <a:r>
              <a:rPr sz="1950" b="0">
                <a:solidFill>
                  <a:srgbClr val="526977"/>
                </a:solidFill>
                <a:latin typeface="Helvetica Neue"/>
                <a:ea typeface="Helvetica Neue"/>
                <a:cs typeface="Helvetica Neue"/>
              </a:rPr>
              <a:t>Changed terms: fresh verification and approval from both</a:t>
            </a:r>
          </a:p>
        </p:txBody>
      </p:sp>
    </p:spTree>
    <p:extLst>
      <p:ext uri="{BB962C8B-B14F-4D97-AF65-F5344CB8AC3E}">
        <p14:creationId xmlns:p14="http://schemas.microsoft.com/office/powerpoint/2010/main" val="1678308376"/>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791A74-6613-4E1D-9945-0695417E6BFC}"/>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A3B"/>
                </a:solidFill>
                <a:latin typeface="Helvetica Neue"/>
                <a:ea typeface="Helvetica Neue"/>
                <a:cs typeface="Helvetica Neue"/>
              </a:defRPr>
            </a:pPr>
            <a:r>
              <a:rPr sz="3300" b="1">
                <a:solidFill>
                  <a:srgbClr val="102A3B"/>
                </a:solidFill>
                <a:latin typeface="Helvetica Neue"/>
                <a:ea typeface="Helvetica Neue"/>
                <a:cs typeface="Helvetica Neue"/>
              </a:rPr>
              <a:t>An immutable agreement before settlement</a:t>
            </a:r>
          </a:p>
        </p:txBody>
      </p:sp>
      <p:sp>
        <p:nvSpPr>
          <p:cNvPr id="2" name="">
            <a:extLst xmlns:a="http://schemas.openxmlformats.org/drawingml/2006/main">
              <a:ext uri="{FF2B5EF4-FFF2-40B4-BE49-F238E27FC236}">
                <a16:creationId xmlns:a16="http://schemas.microsoft.com/office/drawing/2014/main" id="{724F9337-BA12-42A5-86AE-A8E31DD09556}"/>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7"/>
                </a:solidFill>
                <a:latin typeface="Helvetica Neue"/>
                <a:ea typeface="Helvetica Neue"/>
                <a:cs typeface="Helvetica Neue"/>
              </a:defRPr>
            </a:pPr>
            <a:r>
              <a:rPr sz="1350" b="0">
                <a:solidFill>
                  <a:srgbClr val="526977"/>
                </a:solidFill>
                <a:latin typeface="Helvetica Neue"/>
                <a:ea typeface="Helvetica Neue"/>
                <a:cs typeface="Helvetica Neue"/>
              </a:rPr>
              <a:t>TradeBridge   /   Proposed workflow   /   4</a:t>
            </a:r>
          </a:p>
        </p:txBody>
      </p:sp>
      <p:sp>
        <p:nvSpPr>
          <p:cNvPr id="3" name="">
            <a:extLst xmlns:a="http://schemas.openxmlformats.org/drawingml/2006/main">
              <a:ext uri="{FF2B5EF4-FFF2-40B4-BE49-F238E27FC236}">
                <a16:creationId xmlns:a16="http://schemas.microsoft.com/office/drawing/2014/main" id="{B90B17D6-DA85-4974-8FCB-3C894B339731}"/>
              </a:ext>
            </a:extLst>
          </p:cNvPr>
          <p:cNvSpPr>
            <a:spLocks xmlns:a="http://schemas.openxmlformats.org/drawingml/2006/main" noGrp="1"/>
          </p:cNvSpPr>
          <p:nvPr/>
        </p:nvSpPr>
        <p:spPr>
          <a:xfrm xmlns:a="http://schemas.openxmlformats.org/drawingml/2006/main">
            <a:off x="666750" y="174307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E82"/>
                </a:solidFill>
                <a:latin typeface="Helvetica Neue"/>
                <a:ea typeface="Helvetica Neue"/>
                <a:cs typeface="Helvetica Neue"/>
              </a:defRPr>
            </a:pPr>
            <a:r>
              <a:rPr sz="3150" b="1">
                <a:solidFill>
                  <a:srgbClr val="087E82"/>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BE7F436F-1662-4B68-AD13-90FB0387E8A4}"/>
              </a:ext>
            </a:extLst>
          </p:cNvPr>
          <p:cNvSpPr>
            <a:spLocks xmlns:a="http://schemas.openxmlformats.org/drawingml/2006/main" noGrp="1"/>
          </p:cNvSpPr>
          <p:nvPr/>
        </p:nvSpPr>
        <p:spPr>
          <a:xfrm xmlns:a="http://schemas.openxmlformats.org/drawingml/2006/main">
            <a:off x="1838325" y="1695450"/>
            <a:ext cx="957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A3B"/>
                </a:solidFill>
                <a:latin typeface="Helvetica Neue"/>
                <a:ea typeface="Helvetica Neue"/>
                <a:cs typeface="Helvetica Neue"/>
              </a:defRPr>
            </a:pPr>
            <a:r>
              <a:rPr sz="2475" b="1">
                <a:solidFill>
                  <a:srgbClr val="102A3B"/>
                </a:solidFill>
                <a:latin typeface="Helvetica Neue"/>
                <a:ea typeface="Helvetica Neue"/>
                <a:cs typeface="Helvetica Neue"/>
              </a:rPr>
              <a:t>Apply the approved correction</a:t>
            </a:r>
          </a:p>
        </p:txBody>
      </p:sp>
      <p:sp>
        <p:nvSpPr>
          <p:cNvPr id="5" name="">
            <a:extLst xmlns:a="http://schemas.openxmlformats.org/drawingml/2006/main">
              <a:ext uri="{FF2B5EF4-FFF2-40B4-BE49-F238E27FC236}">
                <a16:creationId xmlns:a16="http://schemas.microsoft.com/office/drawing/2014/main" id="{DEAF28A7-37B8-4B7E-8E84-D29EED90090F}"/>
              </a:ext>
            </a:extLst>
          </p:cNvPr>
          <p:cNvSpPr>
            <a:spLocks xmlns:a="http://schemas.openxmlformats.org/drawingml/2006/main" noGrp="1"/>
          </p:cNvSpPr>
          <p:nvPr/>
        </p:nvSpPr>
        <p:spPr>
          <a:xfrm xmlns:a="http://schemas.openxmlformats.org/drawingml/2006/main">
            <a:off x="1838325" y="2276475"/>
            <a:ext cx="9572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7"/>
                </a:solidFill>
                <a:latin typeface="Helvetica Neue"/>
                <a:ea typeface="Helvetica Neue"/>
                <a:cs typeface="Helvetica Neue"/>
              </a:defRPr>
            </a:pPr>
            <a:r>
              <a:rPr sz="1875" b="0">
                <a:solidFill>
                  <a:srgbClr val="526977"/>
                </a:solidFill>
                <a:latin typeface="Helvetica Neue"/>
                <a:ea typeface="Helvetica Neue"/>
                <a:cs typeface="Helvetica Neue"/>
              </a:rPr>
              <a:t>Only after both verified humans explicitly approve the same version</a:t>
            </a:r>
          </a:p>
        </p:txBody>
      </p:sp>
      <p:sp>
        <p:nvSpPr>
          <p:cNvPr id="6" name="">
            <a:extLst xmlns:a="http://schemas.openxmlformats.org/drawingml/2006/main">
              <a:ext uri="{FF2B5EF4-FFF2-40B4-BE49-F238E27FC236}">
                <a16:creationId xmlns:a16="http://schemas.microsoft.com/office/drawing/2014/main" id="{E6BB5A40-F854-488E-A127-95A277F81A2D}"/>
              </a:ext>
            </a:extLst>
          </p:cNvPr>
          <p:cNvSpPr>
            <a:spLocks xmlns:a="http://schemas.openxmlformats.org/drawingml/2006/main" noGrp="1"/>
          </p:cNvSpPr>
          <p:nvPr/>
        </p:nvSpPr>
        <p:spPr>
          <a:xfrm xmlns:a="http://schemas.openxmlformats.org/drawingml/2006/main">
            <a:off x="666750" y="29813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E82"/>
                </a:solidFill>
                <a:latin typeface="Helvetica Neue"/>
                <a:ea typeface="Helvetica Neue"/>
                <a:cs typeface="Helvetica Neue"/>
              </a:defRPr>
            </a:pPr>
            <a:r>
              <a:rPr sz="3150" b="1">
                <a:solidFill>
                  <a:srgbClr val="087E82"/>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D4C4BB36-096E-4DF5-A81E-682380FA1C25}"/>
              </a:ext>
            </a:extLst>
          </p:cNvPr>
          <p:cNvSpPr>
            <a:spLocks xmlns:a="http://schemas.openxmlformats.org/drawingml/2006/main" noGrp="1"/>
          </p:cNvSpPr>
          <p:nvPr/>
        </p:nvSpPr>
        <p:spPr>
          <a:xfrm xmlns:a="http://schemas.openxmlformats.org/drawingml/2006/main">
            <a:off x="1838325" y="2952750"/>
            <a:ext cx="957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02A3B"/>
                </a:solidFill>
                <a:latin typeface="Helvetica Neue"/>
                <a:ea typeface="Helvetica Neue"/>
                <a:cs typeface="Helvetica Neue"/>
              </a:defRPr>
            </a:pPr>
            <a:r>
              <a:rPr sz="2475" b="1">
                <a:solidFill>
                  <a:srgbClr val="102A3B"/>
                </a:solidFill>
                <a:latin typeface="Helvetica Neue"/>
                <a:ea typeface="Helvetica Neue"/>
                <a:cs typeface="Helvetica Neue"/>
              </a:rPr>
              <a:t>Commit the immutable agreement to Sui</a:t>
            </a:r>
          </a:p>
        </p:txBody>
      </p:sp>
      <p:sp>
        <p:nvSpPr>
          <p:cNvPr id="8" name="">
            <a:extLst xmlns:a="http://schemas.openxmlformats.org/drawingml/2006/main">
              <a:ext uri="{FF2B5EF4-FFF2-40B4-BE49-F238E27FC236}">
                <a16:creationId xmlns:a16="http://schemas.microsoft.com/office/drawing/2014/main" id="{C40D742C-1D95-4DA0-89B4-069538EBE9A3}"/>
              </a:ext>
            </a:extLst>
          </p:cNvPr>
          <p:cNvSpPr>
            <a:spLocks xmlns:a="http://schemas.openxmlformats.org/drawingml/2006/main" noGrp="1"/>
          </p:cNvSpPr>
          <p:nvPr/>
        </p:nvSpPr>
        <p:spPr>
          <a:xfrm xmlns:a="http://schemas.openxmlformats.org/drawingml/2006/main">
            <a:off x="1838325" y="3533775"/>
            <a:ext cx="9572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7"/>
                </a:solidFill>
                <a:latin typeface="Helvetica Neue"/>
                <a:ea typeface="Helvetica Neue"/>
                <a:cs typeface="Helvetica Neue"/>
              </a:defRPr>
            </a:pPr>
            <a:r>
              <a:rPr sz="1875" b="0">
                <a:solidFill>
                  <a:srgbClr val="526977"/>
                </a:solidFill>
                <a:latin typeface="Helvetica Neue"/>
                <a:ea typeface="Helvetica Neue"/>
                <a:cs typeface="Helvetica Neue"/>
              </a:rPr>
              <a:t>Preserve original records. Later changes need a new approved version.</a:t>
            </a:r>
          </a:p>
        </p:txBody>
      </p:sp>
      <p:sp>
        <p:nvSpPr>
          <p:cNvPr id="9" name="">
            <a:extLst xmlns:a="http://schemas.openxmlformats.org/drawingml/2006/main">
              <a:ext uri="{FF2B5EF4-FFF2-40B4-BE49-F238E27FC236}">
                <a16:creationId xmlns:a16="http://schemas.microsoft.com/office/drawing/2014/main" id="{404A289F-3E72-4A44-8700-9213905863D1}"/>
              </a:ext>
            </a:extLst>
          </p:cNvPr>
          <p:cNvSpPr>
            <a:spLocks xmlns:a="http://schemas.openxmlformats.org/drawingml/2006/main" noGrp="1"/>
          </p:cNvSpPr>
          <p:nvPr/>
        </p:nvSpPr>
        <p:spPr>
          <a:xfrm xmlns:a="http://schemas.openxmlformats.org/drawingml/2006/main">
            <a:off x="666750" y="4238625"/>
            <a:ext cx="95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E82"/>
                </a:solidFill>
                <a:latin typeface="Helvetica Neue"/>
                <a:ea typeface="Helvetica Neue"/>
                <a:cs typeface="Helvetica Neue"/>
              </a:defRPr>
            </a:pPr>
            <a:r>
              <a:rPr sz="3150" b="1">
                <a:solidFill>
                  <a:srgbClr val="087E82"/>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ACE9EECA-03C9-446A-A48D-DE5972443761}"/>
              </a:ext>
            </a:extLst>
          </p:cNvPr>
          <p:cNvSpPr>
            <a:spLocks xmlns:a="http://schemas.openxmlformats.org/drawingml/2006/main" noGrp="1"/>
          </p:cNvSpPr>
          <p:nvPr/>
        </p:nvSpPr>
        <p:spPr>
          <a:xfrm xmlns:a="http://schemas.openxmlformats.org/drawingml/2006/main">
            <a:off x="1838325" y="4210050"/>
            <a:ext cx="957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A3B"/>
                </a:solidFill>
                <a:latin typeface="Helvetica Neue"/>
                <a:ea typeface="Helvetica Neue"/>
                <a:cs typeface="Helvetica Neue"/>
              </a:defRPr>
            </a:pPr>
            <a:r>
              <a:rPr sz="2400" b="1">
                <a:solidFill>
                  <a:srgbClr val="102A3B"/>
                </a:solidFill>
                <a:latin typeface="Helvetica Neue"/>
                <a:ea typeface="Helvetica Neue"/>
                <a:cs typeface="Helvetica Neue"/>
              </a:rPr>
              <a:t>Fund separately, then release both assets together</a:t>
            </a:r>
          </a:p>
        </p:txBody>
      </p:sp>
      <p:sp>
        <p:nvSpPr>
          <p:cNvPr id="11" name="">
            <a:extLst xmlns:a="http://schemas.openxmlformats.org/drawingml/2006/main">
              <a:ext uri="{FF2B5EF4-FFF2-40B4-BE49-F238E27FC236}">
                <a16:creationId xmlns:a16="http://schemas.microsoft.com/office/drawing/2014/main" id="{71F3411D-73B5-4412-83D4-C743C57D70B2}"/>
              </a:ext>
            </a:extLst>
          </p:cNvPr>
          <p:cNvSpPr>
            <a:spLocks xmlns:a="http://schemas.openxmlformats.org/drawingml/2006/main" noGrp="1"/>
          </p:cNvSpPr>
          <p:nvPr/>
        </p:nvSpPr>
        <p:spPr>
          <a:xfrm xmlns:a="http://schemas.openxmlformats.org/drawingml/2006/main">
            <a:off x="1838325" y="4791075"/>
            <a:ext cx="957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977"/>
                </a:solidFill>
                <a:latin typeface="Helvetica Neue"/>
                <a:ea typeface="Helvetica Neue"/>
                <a:cs typeface="Helvetica Neue"/>
              </a:defRPr>
            </a:pPr>
            <a:r>
              <a:rPr sz="1875" b="0">
                <a:solidFill>
                  <a:srgbClr val="526977"/>
                </a:solidFill>
                <a:latin typeface="Helvetica Neue"/>
                <a:ea typeface="Helvetica Neue"/>
                <a:cs typeface="Helvetica Neue"/>
              </a:rPr>
              <a:t>Wait for confirmed commitment. Final payout transfers both legs or neither.</a:t>
            </a:r>
          </a:p>
        </p:txBody>
      </p:sp>
      <p:sp>
        <p:nvSpPr>
          <p:cNvPr id="12" name="">
            <a:extLst xmlns:a="http://schemas.openxmlformats.org/drawingml/2006/main">
              <a:ext uri="{FF2B5EF4-FFF2-40B4-BE49-F238E27FC236}">
                <a16:creationId xmlns:a16="http://schemas.microsoft.com/office/drawing/2014/main" id="{2EF86EF7-3A1C-4AF2-B71D-40417F98882F}"/>
              </a:ext>
            </a:extLst>
          </p:cNvPr>
          <p:cNvSpPr>
            <a:spLocks xmlns:a="http://schemas.openxmlformats.org/drawingml/2006/main" noGrp="1"/>
          </p:cNvSpPr>
          <p:nvPr/>
        </p:nvSpPr>
        <p:spPr>
          <a:xfrm xmlns:a="http://schemas.openxmlformats.org/drawingml/2006/main">
            <a:off x="666750" y="57150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977"/>
                </a:solidFill>
                <a:latin typeface="Helvetica Neue"/>
                <a:ea typeface="Helvetica Neue"/>
                <a:cs typeface="Helvetica Neue"/>
              </a:defRPr>
            </a:pPr>
            <a:r>
              <a:rPr sz="1725" b="0">
                <a:solidFill>
                  <a:srgbClr val="526977"/>
                </a:solidFill>
                <a:latin typeface="Helvetica Neue"/>
                <a:ea typeface="Helvetica Neue"/>
                <a:cs typeface="Helvetica Neue"/>
              </a:rPr>
              <a:t>World ID verification service supplies attestations that Move must enforce.</a:t>
            </a:r>
          </a:p>
        </p:txBody>
      </p:sp>
    </p:spTree>
    <p:extLst>
      <p:ext uri="{BB962C8B-B14F-4D97-AF65-F5344CB8AC3E}">
        <p14:creationId xmlns:p14="http://schemas.microsoft.com/office/powerpoint/2010/main" val="1473415958"/>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841EC2-E0A6-4E5F-9A70-156CD67647C4}"/>
              </a:ext>
            </a:extLst>
          </p:cNvPr>
          <p:cNvSpPr>
            <a:spLocks xmlns:a="http://schemas.openxmlformats.org/drawingml/2006/main" noGrp="1"/>
          </p:cNvSpPr>
          <p:nvPr/>
        </p:nvSpPr>
        <p:spPr>
          <a:xfrm xmlns:a="http://schemas.openxmlformats.org/drawingml/2006/main">
            <a:off x="609600" y="447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A3B"/>
                </a:solidFill>
                <a:latin typeface="Helvetica Neue"/>
                <a:ea typeface="Helvetica Neue"/>
                <a:cs typeface="Helvetica Neue"/>
              </a:defRPr>
            </a:pPr>
            <a:r>
              <a:rPr sz="3300" b="1">
                <a:solidFill>
                  <a:srgbClr val="102A3B"/>
                </a:solidFill>
                <a:latin typeface="Helvetica Neue"/>
                <a:ea typeface="Helvetica Neue"/>
                <a:cs typeface="Helvetica Neue"/>
              </a:rPr>
              <a:t>Agreement and settlement meet the books</a:t>
            </a:r>
          </a:p>
        </p:txBody>
      </p:sp>
      <p:sp>
        <p:nvSpPr>
          <p:cNvPr id="2" name="">
            <a:extLst xmlns:a="http://schemas.openxmlformats.org/drawingml/2006/main">
              <a:ext uri="{FF2B5EF4-FFF2-40B4-BE49-F238E27FC236}">
                <a16:creationId xmlns:a16="http://schemas.microsoft.com/office/drawing/2014/main" id="{1FC8A0CC-B974-479C-BD11-10C6809BBC7D}"/>
              </a:ext>
            </a:extLst>
          </p:cNvPr>
          <p:cNvSpPr>
            <a:spLocks xmlns:a="http://schemas.openxmlformats.org/drawingml/2006/main" noGrp="1"/>
          </p:cNvSpPr>
          <p:nvPr/>
        </p:nvSpPr>
        <p:spPr>
          <a:xfrm xmlns:a="http://schemas.openxmlformats.org/drawingml/2006/main">
            <a:off x="609600" y="640080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977"/>
                </a:solidFill>
                <a:latin typeface="Helvetica Neue"/>
                <a:ea typeface="Helvetica Neue"/>
                <a:cs typeface="Helvetica Neue"/>
              </a:defRPr>
            </a:pPr>
            <a:r>
              <a:rPr sz="1350" b="0">
                <a:solidFill>
                  <a:srgbClr val="526977"/>
                </a:solidFill>
                <a:latin typeface="Helvetica Neue"/>
                <a:ea typeface="Helvetica Neue"/>
                <a:cs typeface="Helvetica Neue"/>
              </a:rPr>
              <a:t>TradeBridge   /   Proposed workflow   /   5</a:t>
            </a:r>
          </a:p>
        </p:txBody>
      </p:sp>
      <p:sp>
        <p:nvSpPr>
          <p:cNvPr id="3" name="">
            <a:extLst xmlns:a="http://schemas.openxmlformats.org/drawingml/2006/main">
              <a:ext uri="{FF2B5EF4-FFF2-40B4-BE49-F238E27FC236}">
                <a16:creationId xmlns:a16="http://schemas.microsoft.com/office/drawing/2014/main" id="{2F4B4708-3B42-4732-B776-8C7534F2E110}"/>
              </a:ext>
            </a:extLst>
          </p:cNvPr>
          <p:cNvSpPr>
            <a:spLocks xmlns:a="http://schemas.openxmlformats.org/drawingml/2006/main" noGrp="1"/>
          </p:cNvSpPr>
          <p:nvPr/>
        </p:nvSpPr>
        <p:spPr>
          <a:xfrm xmlns:a="http://schemas.openxmlformats.org/drawingml/2006/main">
            <a:off x="666750" y="177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87E82"/>
                </a:solidFill>
                <a:latin typeface="Helvetica Neue"/>
                <a:ea typeface="Helvetica Neue"/>
                <a:cs typeface="Helvetica Neue"/>
              </a:defRPr>
            </a:pPr>
            <a:r>
              <a:rPr sz="2775" b="1">
                <a:solidFill>
                  <a:srgbClr val="087E82"/>
                </a:solidFill>
                <a:latin typeface="Helvetica Neue"/>
                <a:ea typeface="Helvetica Neue"/>
                <a:cs typeface="Helvetica Neue"/>
              </a:rPr>
              <a:t>Four records to reconcile</a:t>
            </a:r>
          </a:p>
        </p:txBody>
      </p:sp>
      <p:sp>
        <p:nvSpPr>
          <p:cNvPr id="4" name="">
            <a:extLst xmlns:a="http://schemas.openxmlformats.org/drawingml/2006/main">
              <a:ext uri="{FF2B5EF4-FFF2-40B4-BE49-F238E27FC236}">
                <a16:creationId xmlns:a16="http://schemas.microsoft.com/office/drawing/2014/main" id="{DD05A0BA-D3A7-4780-9F34-64B7C73DE1BA}"/>
              </a:ext>
            </a:extLst>
          </p:cNvPr>
          <p:cNvSpPr>
            <a:spLocks xmlns:a="http://schemas.openxmlformats.org/drawingml/2006/main" noGrp="1"/>
          </p:cNvSpPr>
          <p:nvPr/>
        </p:nvSpPr>
        <p:spPr>
          <a:xfrm xmlns:a="http://schemas.openxmlformats.org/drawingml/2006/main">
            <a:off x="666750" y="28765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A3B"/>
                </a:solidFill>
                <a:latin typeface="Helvetica Neue"/>
                <a:ea typeface="Helvetica Neue"/>
                <a:cs typeface="Helvetica Neue"/>
              </a:defRPr>
            </a:pPr>
            <a:r>
              <a:rPr sz="2250" b="1">
                <a:solidFill>
                  <a:srgbClr val="102A3B"/>
                </a:solidFill>
                <a:latin typeface="Helvetica Neue"/>
                <a:ea typeface="Helvetica Neue"/>
                <a:cs typeface="Helvetica Neue"/>
              </a:rPr>
              <a:t>Buyer book</a:t>
            </a:r>
          </a:p>
        </p:txBody>
      </p:sp>
      <p:sp>
        <p:nvSpPr>
          <p:cNvPr id="5" name="">
            <a:extLst xmlns:a="http://schemas.openxmlformats.org/drawingml/2006/main">
              <a:ext uri="{FF2B5EF4-FFF2-40B4-BE49-F238E27FC236}">
                <a16:creationId xmlns:a16="http://schemas.microsoft.com/office/drawing/2014/main" id="{F8DE6349-FDFA-4A43-9466-1CE152125233}"/>
              </a:ext>
            </a:extLst>
          </p:cNvPr>
          <p:cNvSpPr>
            <a:spLocks xmlns:a="http://schemas.openxmlformats.org/drawingml/2006/main" noGrp="1"/>
          </p:cNvSpPr>
          <p:nvPr/>
        </p:nvSpPr>
        <p:spPr>
          <a:xfrm xmlns:a="http://schemas.openxmlformats.org/drawingml/2006/main">
            <a:off x="3476625" y="28765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A3B"/>
                </a:solidFill>
                <a:latin typeface="Helvetica Neue"/>
                <a:ea typeface="Helvetica Neue"/>
                <a:cs typeface="Helvetica Neue"/>
              </a:defRPr>
            </a:pPr>
            <a:r>
              <a:rPr sz="2250" b="1">
                <a:solidFill>
                  <a:srgbClr val="102A3B"/>
                </a:solidFill>
                <a:latin typeface="Helvetica Neue"/>
                <a:ea typeface="Helvetica Neue"/>
                <a:cs typeface="Helvetica Neue"/>
              </a:rPr>
              <a:t>Broker book</a:t>
            </a:r>
          </a:p>
        </p:txBody>
      </p:sp>
      <p:sp>
        <p:nvSpPr>
          <p:cNvPr id="6" name="">
            <a:extLst xmlns:a="http://schemas.openxmlformats.org/drawingml/2006/main">
              <a:ext uri="{FF2B5EF4-FFF2-40B4-BE49-F238E27FC236}">
                <a16:creationId xmlns:a16="http://schemas.microsoft.com/office/drawing/2014/main" id="{44DF8D4A-D824-4ECF-B038-B02E55695C0D}"/>
              </a:ext>
            </a:extLst>
          </p:cNvPr>
          <p:cNvSpPr>
            <a:spLocks xmlns:a="http://schemas.openxmlformats.org/drawingml/2006/main" noGrp="1"/>
          </p:cNvSpPr>
          <p:nvPr/>
        </p:nvSpPr>
        <p:spPr>
          <a:xfrm xmlns:a="http://schemas.openxmlformats.org/drawingml/2006/main">
            <a:off x="6296025" y="2876550"/>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A3B"/>
                </a:solidFill>
                <a:latin typeface="Helvetica Neue"/>
                <a:ea typeface="Helvetica Neue"/>
                <a:cs typeface="Helvetica Neue"/>
              </a:defRPr>
            </a:pPr>
            <a:r>
              <a:rPr sz="2250" b="1">
                <a:solidFill>
                  <a:srgbClr val="102A3B"/>
                </a:solidFill>
                <a:latin typeface="Helvetica Neue"/>
                <a:ea typeface="Helvetica Neue"/>
                <a:cs typeface="Helvetica Neue"/>
              </a:rPr>
              <a:t>Approved</a:t>
            </a:r>
          </a:p>
          <a:p xmlns:a="http://schemas.openxmlformats.org/drawingml/2006/main">
            <a:pPr>
              <a:defRPr sz="2250" b="1">
                <a:solidFill>
                  <a:srgbClr val="102A3B"/>
                </a:solidFill>
                <a:latin typeface="Helvetica Neue"/>
                <a:ea typeface="Helvetica Neue"/>
                <a:cs typeface="Helvetica Neue"/>
              </a:defRPr>
            </a:pPr>
            <a:r>
              <a:rPr sz="2250" b="1">
                <a:solidFill>
                  <a:srgbClr val="102A3B"/>
                </a:solidFill>
                <a:latin typeface="Helvetica Neue"/>
                <a:ea typeface="Helvetica Neue"/>
                <a:cs typeface="Helvetica Neue"/>
              </a:rPr>
              <a:t>agreement</a:t>
            </a:r>
          </a:p>
        </p:txBody>
      </p:sp>
      <p:sp>
        <p:nvSpPr>
          <p:cNvPr id="7" name="">
            <a:extLst xmlns:a="http://schemas.openxmlformats.org/drawingml/2006/main">
              <a:ext uri="{FF2B5EF4-FFF2-40B4-BE49-F238E27FC236}">
                <a16:creationId xmlns:a16="http://schemas.microsoft.com/office/drawing/2014/main" id="{7EAB6A36-94B3-4D23-BBC4-EB834A674C03}"/>
              </a:ext>
            </a:extLst>
          </p:cNvPr>
          <p:cNvSpPr>
            <a:spLocks xmlns:a="http://schemas.openxmlformats.org/drawingml/2006/main" noGrp="1"/>
          </p:cNvSpPr>
          <p:nvPr/>
        </p:nvSpPr>
        <p:spPr>
          <a:xfrm xmlns:a="http://schemas.openxmlformats.org/drawingml/2006/main">
            <a:off x="9115425" y="2876550"/>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A3B"/>
                </a:solidFill>
                <a:latin typeface="Helvetica Neue"/>
                <a:ea typeface="Helvetica Neue"/>
                <a:cs typeface="Helvetica Neue"/>
              </a:defRPr>
            </a:pPr>
            <a:r>
              <a:rPr sz="2250" b="1">
                <a:solidFill>
                  <a:srgbClr val="102A3B"/>
                </a:solidFill>
                <a:latin typeface="Helvetica Neue"/>
                <a:ea typeface="Helvetica Neue"/>
                <a:cs typeface="Helvetica Neue"/>
              </a:rPr>
              <a:t>Actual Sui</a:t>
            </a:r>
          </a:p>
          <a:p xmlns:a="http://schemas.openxmlformats.org/drawingml/2006/main">
            <a:pPr>
              <a:defRPr sz="2250" b="1">
                <a:solidFill>
                  <a:srgbClr val="102A3B"/>
                </a:solidFill>
                <a:latin typeface="Helvetica Neue"/>
                <a:ea typeface="Helvetica Neue"/>
                <a:cs typeface="Helvetica Neue"/>
              </a:defRPr>
            </a:pPr>
            <a:r>
              <a:rPr sz="2250" b="1">
                <a:solidFill>
                  <a:srgbClr val="102A3B"/>
                </a:solidFill>
                <a:latin typeface="Helvetica Neue"/>
                <a:ea typeface="Helvetica Neue"/>
                <a:cs typeface="Helvetica Neue"/>
              </a:rPr>
              <a:t>transfers</a:t>
            </a:r>
          </a:p>
        </p:txBody>
      </p:sp>
      <p:sp>
        <p:nvSpPr>
          <p:cNvPr id="8" name="">
            <a:extLst xmlns:a="http://schemas.openxmlformats.org/drawingml/2006/main">
              <a:ext uri="{FF2B5EF4-FFF2-40B4-BE49-F238E27FC236}">
                <a16:creationId xmlns:a16="http://schemas.microsoft.com/office/drawing/2014/main" id="{10A58E3B-6C51-4935-94FC-C753EB6CE47D}"/>
              </a:ext>
            </a:extLst>
          </p:cNvPr>
          <p:cNvSpPr>
            <a:spLocks xmlns:a="http://schemas.openxmlformats.org/drawingml/2006/main" noGrp="1"/>
          </p:cNvSpPr>
          <p:nvPr/>
        </p:nvSpPr>
        <p:spPr>
          <a:xfrm xmlns:a="http://schemas.openxmlformats.org/drawingml/2006/main">
            <a:off x="666750" y="44672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02A3B"/>
                </a:solidFill>
                <a:latin typeface="Helvetica Neue"/>
                <a:ea typeface="Helvetica Neue"/>
                <a:cs typeface="Helvetica Neue"/>
              </a:defRPr>
            </a:pPr>
            <a:r>
              <a:rPr sz="2550" b="1">
                <a:solidFill>
                  <a:srgbClr val="102A3B"/>
                </a:solidFill>
                <a:latin typeface="Helvetica Neue"/>
                <a:ea typeface="Helvetica Neue"/>
                <a:cs typeface="Helvetica Neue"/>
              </a:rPr>
              <a:t>A missing or incorrect book entry remains an exception.</a:t>
            </a:r>
          </a:p>
        </p:txBody>
      </p:sp>
      <p:sp>
        <p:nvSpPr>
          <p:cNvPr id="9" name="">
            <a:extLst xmlns:a="http://schemas.openxmlformats.org/drawingml/2006/main">
              <a:ext uri="{FF2B5EF4-FFF2-40B4-BE49-F238E27FC236}">
                <a16:creationId xmlns:a16="http://schemas.microsoft.com/office/drawing/2014/main" id="{B94C365E-53A7-456E-9263-B3871CAD1F5E}"/>
              </a:ext>
            </a:extLst>
          </p:cNvPr>
          <p:cNvSpPr>
            <a:spLocks xmlns:a="http://schemas.openxmlformats.org/drawingml/2006/main" noGrp="1"/>
          </p:cNvSpPr>
          <p:nvPr/>
        </p:nvSpPr>
        <p:spPr>
          <a:xfrm xmlns:a="http://schemas.openxmlformats.org/drawingml/2006/main">
            <a:off x="666750" y="5353050"/>
            <a:ext cx="1081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977"/>
                </a:solidFill>
                <a:latin typeface="Helvetica Neue"/>
                <a:ea typeface="Helvetica Neue"/>
                <a:cs typeface="Helvetica Neue"/>
              </a:defRPr>
            </a:pPr>
            <a:r>
              <a:rPr sz="2175" b="0">
                <a:solidFill>
                  <a:srgbClr val="526977"/>
                </a:solidFill>
                <a:latin typeface="Helvetica Neue"/>
                <a:ea typeface="Helvetica Neue"/>
                <a:cs typeface="Helvetica Neue"/>
              </a:rPr>
              <a:t>A traceable correction and settlement process for post-trade teams</a:t>
            </a:r>
          </a:p>
        </p:txBody>
      </p:sp>
    </p:spTree>
    <p:extLst>
      <p:ext uri="{BB962C8B-B14F-4D97-AF65-F5344CB8AC3E}">
        <p14:creationId xmlns:p14="http://schemas.microsoft.com/office/powerpoint/2010/main" val="8000796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2026-09-25T15:10:32.8910000Z</dcterms:created>
  <dcterms:modified xsi:type="dcterms:W3CDTF">2026-09-25T15:10:32.8910000Z</dcterms:modified>
</coreProperties>
</file>